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730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F9B27-546E-408A-A670-FE37DDFD62B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25A5F-C2A4-43B9-9ED9-8E482E53C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453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25A5F-C2A4-43B9-9ED9-8E482E53CB2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254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B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41822" y="-35464"/>
            <a:ext cx="15004355" cy="528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6490" y="0"/>
              <a:ext cx="1215150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425348" cy="13380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4001445" cy="52902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09098" y="3114738"/>
            <a:ext cx="12270105" cy="371960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marL="12700" marR="5080" algn="ctr">
              <a:lnSpc>
                <a:spcPts val="13650"/>
              </a:lnSpc>
              <a:spcBef>
                <a:spcPts val="1605"/>
              </a:spcBef>
            </a:pPr>
            <a:r>
              <a:rPr sz="12400" b="1" spc="295" dirty="0">
                <a:solidFill>
                  <a:srgbClr val="2A2A2A"/>
                </a:solidFill>
                <a:latin typeface="Tahoma"/>
                <a:cs typeface="Tahoma"/>
              </a:rPr>
              <a:t>Customer</a:t>
            </a:r>
            <a:r>
              <a:rPr sz="12400" b="1" spc="-215" dirty="0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sz="12400" b="1" spc="585" dirty="0">
                <a:solidFill>
                  <a:srgbClr val="2A2A2A"/>
                </a:solidFill>
                <a:latin typeface="Tahoma"/>
                <a:cs typeface="Tahoma"/>
              </a:rPr>
              <a:t>data </a:t>
            </a:r>
            <a:r>
              <a:rPr sz="12400" b="1" spc="275" dirty="0">
                <a:solidFill>
                  <a:srgbClr val="2A2A2A"/>
                </a:solidFill>
                <a:latin typeface="Tahoma"/>
                <a:cs typeface="Tahoma"/>
              </a:rPr>
              <a:t>analysis</a:t>
            </a:r>
            <a:endParaRPr sz="12400" dirty="0">
              <a:latin typeface="Tahoma"/>
              <a:cs typeface="Tahom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657AD2C-5AA8-0D8E-38FE-6D654B0FF7C8}"/>
              </a:ext>
            </a:extLst>
          </p:cNvPr>
          <p:cNvSpPr txBox="1"/>
          <p:nvPr/>
        </p:nvSpPr>
        <p:spPr>
          <a:xfrm>
            <a:off x="11506200" y="9029700"/>
            <a:ext cx="624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By </a:t>
            </a:r>
            <a:r>
              <a:rPr lang="en-US" sz="4400" dirty="0" smtClean="0"/>
              <a:t>:- Prapti Dhameliya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7494" y="1634489"/>
            <a:ext cx="14068424" cy="7619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02676" y="72150"/>
            <a:ext cx="5306695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905635" algn="l"/>
              </a:tabLst>
            </a:pPr>
            <a:r>
              <a:rPr sz="3450" spc="185" dirty="0"/>
              <a:t>cleaned</a:t>
            </a:r>
            <a:r>
              <a:rPr sz="3450" dirty="0"/>
              <a:t>	</a:t>
            </a:r>
            <a:r>
              <a:rPr sz="3450" spc="260" dirty="0"/>
              <a:t>data</a:t>
            </a:r>
            <a:r>
              <a:rPr sz="3450" spc="-195" dirty="0"/>
              <a:t> </a:t>
            </a:r>
            <a:r>
              <a:rPr sz="3450" spc="130" dirty="0"/>
              <a:t>in</a:t>
            </a:r>
            <a:r>
              <a:rPr sz="3450" spc="-190" dirty="0"/>
              <a:t> </a:t>
            </a:r>
            <a:r>
              <a:rPr sz="3450" spc="165" dirty="0"/>
              <a:t>power</a:t>
            </a:r>
            <a:r>
              <a:rPr sz="3450" spc="-190" dirty="0"/>
              <a:t> </a:t>
            </a:r>
            <a:r>
              <a:rPr sz="3450" spc="85" dirty="0"/>
              <a:t>bi</a:t>
            </a:r>
            <a:endParaRPr sz="3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5805" y="0"/>
            <a:ext cx="18002250" cy="10287000"/>
            <a:chOff x="285805" y="0"/>
            <a:chExt cx="1800225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6510" y="0"/>
              <a:ext cx="1168148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38330" y="8860188"/>
              <a:ext cx="6283953" cy="14268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5805" y="724942"/>
              <a:ext cx="12639674" cy="64568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31950" y="4452679"/>
              <a:ext cx="5856049" cy="58343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36463" y="-34257"/>
            <a:ext cx="32829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420" dirty="0">
                <a:solidFill>
                  <a:srgbClr val="2A2A2A"/>
                </a:solidFill>
                <a:latin typeface="Tahoma"/>
                <a:cs typeface="Tahoma"/>
              </a:rPr>
              <a:t>1.</a:t>
            </a:r>
            <a:endParaRPr sz="37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82638" y="-34257"/>
            <a:ext cx="734377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120" dirty="0">
                <a:solidFill>
                  <a:srgbClr val="2A2A2A"/>
                </a:solidFill>
              </a:rPr>
              <a:t>Shopping</a:t>
            </a:r>
            <a:r>
              <a:rPr sz="3700" spc="-204" dirty="0">
                <a:solidFill>
                  <a:srgbClr val="2A2A2A"/>
                </a:solidFill>
              </a:rPr>
              <a:t> </a:t>
            </a:r>
            <a:r>
              <a:rPr sz="3700" spc="185" dirty="0">
                <a:solidFill>
                  <a:srgbClr val="2A2A2A"/>
                </a:solidFill>
              </a:rPr>
              <a:t>Distribution</a:t>
            </a:r>
            <a:r>
              <a:rPr sz="3700" spc="-204" dirty="0">
                <a:solidFill>
                  <a:srgbClr val="2A2A2A"/>
                </a:solidFill>
              </a:rPr>
              <a:t> </a:t>
            </a:r>
            <a:r>
              <a:rPr sz="3700" spc="250" dirty="0">
                <a:solidFill>
                  <a:srgbClr val="2A2A2A"/>
                </a:solidFill>
              </a:rPr>
              <a:t>by</a:t>
            </a:r>
            <a:r>
              <a:rPr sz="3700" spc="-204" dirty="0">
                <a:solidFill>
                  <a:srgbClr val="2A2A2A"/>
                </a:solidFill>
              </a:rPr>
              <a:t> </a:t>
            </a:r>
            <a:r>
              <a:rPr sz="3700" spc="170" dirty="0">
                <a:solidFill>
                  <a:srgbClr val="2A2A2A"/>
                </a:solidFill>
              </a:rPr>
              <a:t>Gender</a:t>
            </a:r>
            <a:endParaRPr sz="3700"/>
          </a:p>
        </p:txBody>
      </p:sp>
      <p:sp>
        <p:nvSpPr>
          <p:cNvPr id="9" name="object 9"/>
          <p:cNvSpPr txBox="1"/>
          <p:nvPr/>
        </p:nvSpPr>
        <p:spPr>
          <a:xfrm>
            <a:off x="413599" y="8460733"/>
            <a:ext cx="11569700" cy="122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6805" marR="5080" indent="-1094740">
              <a:lnSpc>
                <a:spcPct val="115799"/>
              </a:lnSpc>
              <a:spcBef>
                <a:spcPts val="100"/>
              </a:spcBef>
            </a:pPr>
            <a:r>
              <a:rPr sz="3400" spc="-20" dirty="0">
                <a:solidFill>
                  <a:srgbClr val="2A2A2A"/>
                </a:solidFill>
                <a:latin typeface="Verdana"/>
                <a:cs typeface="Verdana"/>
              </a:rPr>
              <a:t>Females</a:t>
            </a:r>
            <a:r>
              <a:rPr sz="3400" spc="-229" dirty="0">
                <a:solidFill>
                  <a:srgbClr val="2A2A2A"/>
                </a:solidFill>
                <a:latin typeface="Verdana"/>
                <a:cs typeface="Verdana"/>
              </a:rPr>
              <a:t> </a:t>
            </a:r>
            <a:r>
              <a:rPr sz="3400" spc="-85" dirty="0">
                <a:solidFill>
                  <a:srgbClr val="2A2A2A"/>
                </a:solidFill>
                <a:latin typeface="Verdana"/>
                <a:cs typeface="Verdana"/>
              </a:rPr>
              <a:t>made</a:t>
            </a:r>
            <a:r>
              <a:rPr sz="3400" spc="-225" dirty="0">
                <a:solidFill>
                  <a:srgbClr val="2A2A2A"/>
                </a:solidFill>
                <a:latin typeface="Verdana"/>
                <a:cs typeface="Verdana"/>
              </a:rPr>
              <a:t> </a:t>
            </a:r>
            <a:r>
              <a:rPr sz="3400" spc="-100" dirty="0">
                <a:solidFill>
                  <a:srgbClr val="2A2A2A"/>
                </a:solidFill>
                <a:latin typeface="Verdana"/>
                <a:cs typeface="Verdana"/>
              </a:rPr>
              <a:t>more</a:t>
            </a:r>
            <a:r>
              <a:rPr sz="3400" spc="-225" dirty="0">
                <a:solidFill>
                  <a:srgbClr val="2A2A2A"/>
                </a:solidFill>
                <a:latin typeface="Verdana"/>
                <a:cs typeface="Verdana"/>
              </a:rPr>
              <a:t> </a:t>
            </a:r>
            <a:r>
              <a:rPr sz="3400" spc="-20" dirty="0">
                <a:solidFill>
                  <a:srgbClr val="2A2A2A"/>
                </a:solidFill>
                <a:latin typeface="Verdana"/>
                <a:cs typeface="Verdana"/>
              </a:rPr>
              <a:t>purchases</a:t>
            </a:r>
            <a:r>
              <a:rPr sz="3400" spc="-225" dirty="0">
                <a:solidFill>
                  <a:srgbClr val="2A2A2A"/>
                </a:solidFill>
                <a:latin typeface="Verdana"/>
                <a:cs typeface="Verdana"/>
              </a:rPr>
              <a:t> </a:t>
            </a:r>
            <a:r>
              <a:rPr sz="3400" spc="-155" dirty="0">
                <a:solidFill>
                  <a:srgbClr val="2A2A2A"/>
                </a:solidFill>
                <a:latin typeface="Verdana"/>
                <a:cs typeface="Verdana"/>
              </a:rPr>
              <a:t>than</a:t>
            </a:r>
            <a:r>
              <a:rPr sz="3400" spc="-225" dirty="0">
                <a:solidFill>
                  <a:srgbClr val="2A2A2A"/>
                </a:solidFill>
                <a:latin typeface="Verdana"/>
                <a:cs typeface="Verdana"/>
              </a:rPr>
              <a:t> </a:t>
            </a:r>
            <a:r>
              <a:rPr sz="3400" spc="-120" dirty="0">
                <a:solidFill>
                  <a:srgbClr val="2A2A2A"/>
                </a:solidFill>
                <a:latin typeface="Verdana"/>
                <a:cs typeface="Verdana"/>
              </a:rPr>
              <a:t>males.</a:t>
            </a:r>
            <a:r>
              <a:rPr sz="3400" spc="-225" dirty="0">
                <a:solidFill>
                  <a:srgbClr val="2A2A2A"/>
                </a:solidFill>
                <a:latin typeface="Verdana"/>
                <a:cs typeface="Verdana"/>
              </a:rPr>
              <a:t> </a:t>
            </a:r>
            <a:r>
              <a:rPr sz="3400" spc="-55" dirty="0">
                <a:solidFill>
                  <a:srgbClr val="2A2A2A"/>
                </a:solidFill>
                <a:latin typeface="Verdana"/>
                <a:cs typeface="Verdana"/>
              </a:rPr>
              <a:t>This</a:t>
            </a:r>
            <a:r>
              <a:rPr sz="3400" spc="-225" dirty="0">
                <a:solidFill>
                  <a:srgbClr val="2A2A2A"/>
                </a:solidFill>
                <a:latin typeface="Verdana"/>
                <a:cs typeface="Verdana"/>
              </a:rPr>
              <a:t> </a:t>
            </a:r>
            <a:r>
              <a:rPr sz="3400" spc="-10" dirty="0">
                <a:solidFill>
                  <a:srgbClr val="2A2A2A"/>
                </a:solidFill>
                <a:latin typeface="Verdana"/>
                <a:cs typeface="Verdana"/>
              </a:rPr>
              <a:t>shows </a:t>
            </a:r>
            <a:r>
              <a:rPr sz="3400" spc="-60" dirty="0">
                <a:solidFill>
                  <a:srgbClr val="2A2A2A"/>
                </a:solidFill>
                <a:latin typeface="Verdana"/>
                <a:cs typeface="Verdana"/>
              </a:rPr>
              <a:t>female</a:t>
            </a:r>
            <a:r>
              <a:rPr sz="3400" spc="-215" dirty="0">
                <a:solidFill>
                  <a:srgbClr val="2A2A2A"/>
                </a:solidFill>
                <a:latin typeface="Verdana"/>
                <a:cs typeface="Verdana"/>
              </a:rPr>
              <a:t> </a:t>
            </a:r>
            <a:r>
              <a:rPr sz="3400" spc="-25" dirty="0">
                <a:solidFill>
                  <a:srgbClr val="2A2A2A"/>
                </a:solidFill>
                <a:latin typeface="Verdana"/>
                <a:cs typeface="Verdana"/>
              </a:rPr>
              <a:t>customers</a:t>
            </a:r>
            <a:r>
              <a:rPr sz="3400" spc="-215" dirty="0">
                <a:solidFill>
                  <a:srgbClr val="2A2A2A"/>
                </a:solidFill>
                <a:latin typeface="Verdana"/>
                <a:cs typeface="Verdana"/>
              </a:rPr>
              <a:t> </a:t>
            </a:r>
            <a:r>
              <a:rPr sz="3400" spc="-100" dirty="0">
                <a:solidFill>
                  <a:srgbClr val="2A2A2A"/>
                </a:solidFill>
                <a:latin typeface="Verdana"/>
                <a:cs typeface="Verdana"/>
              </a:rPr>
              <a:t>are</a:t>
            </a:r>
            <a:r>
              <a:rPr sz="3400" spc="-215" dirty="0">
                <a:solidFill>
                  <a:srgbClr val="2A2A2A"/>
                </a:solidFill>
                <a:latin typeface="Verdana"/>
                <a:cs typeface="Verdana"/>
              </a:rPr>
              <a:t> </a:t>
            </a:r>
            <a:r>
              <a:rPr sz="3400" spc="-100" dirty="0">
                <a:solidFill>
                  <a:srgbClr val="2A2A2A"/>
                </a:solidFill>
                <a:latin typeface="Verdana"/>
                <a:cs typeface="Verdana"/>
              </a:rPr>
              <a:t>more</a:t>
            </a:r>
            <a:r>
              <a:rPr sz="3400" spc="-210" dirty="0">
                <a:solidFill>
                  <a:srgbClr val="2A2A2A"/>
                </a:solidFill>
                <a:latin typeface="Verdana"/>
                <a:cs typeface="Verdana"/>
              </a:rPr>
              <a:t> </a:t>
            </a:r>
            <a:r>
              <a:rPr sz="3400" spc="-60" dirty="0">
                <a:solidFill>
                  <a:srgbClr val="2A2A2A"/>
                </a:solidFill>
                <a:latin typeface="Verdana"/>
                <a:cs typeface="Verdana"/>
              </a:rPr>
              <a:t>active</a:t>
            </a:r>
            <a:r>
              <a:rPr sz="3400" spc="-215" dirty="0">
                <a:solidFill>
                  <a:srgbClr val="2A2A2A"/>
                </a:solidFill>
                <a:latin typeface="Verdana"/>
                <a:cs typeface="Verdana"/>
              </a:rPr>
              <a:t> </a:t>
            </a:r>
            <a:r>
              <a:rPr sz="3400" spc="-10" dirty="0">
                <a:solidFill>
                  <a:srgbClr val="2A2A2A"/>
                </a:solidFill>
                <a:latin typeface="Verdana"/>
                <a:cs typeface="Verdana"/>
              </a:rPr>
              <a:t>shoppers.</a:t>
            </a:r>
            <a:endParaRPr sz="3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50641"/>
            <a:ext cx="4809534" cy="733635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836833" y="0"/>
            <a:ext cx="16451580" cy="10039350"/>
            <a:chOff x="1836833" y="0"/>
            <a:chExt cx="16451580" cy="100393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00383" y="0"/>
              <a:ext cx="6487616" cy="1003896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6833" y="1536699"/>
              <a:ext cx="14106524" cy="672348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4212" y="152082"/>
            <a:ext cx="934085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72845" algn="l"/>
              </a:tabLst>
            </a:pPr>
            <a:r>
              <a:rPr sz="3100" spc="-25" dirty="0">
                <a:solidFill>
                  <a:srgbClr val="2A2A2A"/>
                </a:solidFill>
              </a:rPr>
              <a:t>2.</a:t>
            </a:r>
            <a:r>
              <a:rPr sz="3100" dirty="0">
                <a:solidFill>
                  <a:srgbClr val="2A2A2A"/>
                </a:solidFill>
              </a:rPr>
              <a:t>	</a:t>
            </a:r>
            <a:r>
              <a:rPr sz="3100" spc="125" dirty="0">
                <a:solidFill>
                  <a:srgbClr val="2A2A2A"/>
                </a:solidFill>
              </a:rPr>
              <a:t>which</a:t>
            </a:r>
            <a:r>
              <a:rPr sz="3100" spc="-180" dirty="0">
                <a:solidFill>
                  <a:srgbClr val="2A2A2A"/>
                </a:solidFill>
              </a:rPr>
              <a:t> </a:t>
            </a:r>
            <a:r>
              <a:rPr sz="3100" spc="145" dirty="0">
                <a:solidFill>
                  <a:srgbClr val="2A2A2A"/>
                </a:solidFill>
              </a:rPr>
              <a:t>gender</a:t>
            </a:r>
            <a:r>
              <a:rPr sz="3100" spc="-175" dirty="0">
                <a:solidFill>
                  <a:srgbClr val="2A2A2A"/>
                </a:solidFill>
              </a:rPr>
              <a:t> </a:t>
            </a:r>
            <a:r>
              <a:rPr sz="3100" spc="110" dirty="0">
                <a:solidFill>
                  <a:srgbClr val="2A2A2A"/>
                </a:solidFill>
              </a:rPr>
              <a:t>did</a:t>
            </a:r>
            <a:r>
              <a:rPr sz="3100" spc="-180" dirty="0">
                <a:solidFill>
                  <a:srgbClr val="2A2A2A"/>
                </a:solidFill>
              </a:rPr>
              <a:t> </a:t>
            </a:r>
            <a:r>
              <a:rPr sz="3100" spc="100" dirty="0">
                <a:solidFill>
                  <a:srgbClr val="2A2A2A"/>
                </a:solidFill>
              </a:rPr>
              <a:t>we</a:t>
            </a:r>
            <a:r>
              <a:rPr sz="3100" spc="-180" dirty="0">
                <a:solidFill>
                  <a:srgbClr val="2A2A2A"/>
                </a:solidFill>
              </a:rPr>
              <a:t> </a:t>
            </a:r>
            <a:r>
              <a:rPr sz="3100" spc="210" dirty="0">
                <a:solidFill>
                  <a:srgbClr val="2A2A2A"/>
                </a:solidFill>
              </a:rPr>
              <a:t>sell</a:t>
            </a:r>
            <a:r>
              <a:rPr sz="3100" spc="-175" dirty="0">
                <a:solidFill>
                  <a:srgbClr val="2A2A2A"/>
                </a:solidFill>
              </a:rPr>
              <a:t> </a:t>
            </a:r>
            <a:r>
              <a:rPr sz="3100" spc="130" dirty="0">
                <a:solidFill>
                  <a:srgbClr val="2A2A2A"/>
                </a:solidFill>
              </a:rPr>
              <a:t>more</a:t>
            </a:r>
            <a:r>
              <a:rPr sz="3100" spc="-180" dirty="0">
                <a:solidFill>
                  <a:srgbClr val="2A2A2A"/>
                </a:solidFill>
              </a:rPr>
              <a:t> </a:t>
            </a:r>
            <a:r>
              <a:rPr sz="3100" spc="165" dirty="0">
                <a:solidFill>
                  <a:srgbClr val="2A2A2A"/>
                </a:solidFill>
              </a:rPr>
              <a:t>products</a:t>
            </a:r>
            <a:r>
              <a:rPr sz="3100" spc="-175" dirty="0">
                <a:solidFill>
                  <a:srgbClr val="2A2A2A"/>
                </a:solidFill>
              </a:rPr>
              <a:t> </a:t>
            </a:r>
            <a:r>
              <a:rPr sz="3100" spc="180" dirty="0">
                <a:solidFill>
                  <a:srgbClr val="2A2A2A"/>
                </a:solidFill>
              </a:rPr>
              <a:t>to?</a:t>
            </a:r>
            <a:endParaRPr sz="3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50641"/>
            <a:ext cx="4809534" cy="733635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415389" y="0"/>
            <a:ext cx="15873094" cy="8681085"/>
            <a:chOff x="2415389" y="0"/>
            <a:chExt cx="15873094" cy="868108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45533" y="0"/>
              <a:ext cx="6242465" cy="64829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5389" y="1603970"/>
              <a:ext cx="13458822" cy="707707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03708" y="-35464"/>
            <a:ext cx="37973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25" dirty="0">
                <a:latin typeface="Tahoma"/>
                <a:cs typeface="Tahoma"/>
              </a:rPr>
              <a:t>3.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165">
              <a:lnSpc>
                <a:spcPct val="100000"/>
              </a:lnSpc>
              <a:spcBef>
                <a:spcPts val="100"/>
              </a:spcBef>
            </a:pPr>
            <a:r>
              <a:rPr spc="160" dirty="0"/>
              <a:t>Which</a:t>
            </a:r>
            <a:r>
              <a:rPr spc="-190" dirty="0"/>
              <a:t> </a:t>
            </a:r>
            <a:r>
              <a:rPr spc="155" dirty="0"/>
              <a:t>gender</a:t>
            </a:r>
            <a:r>
              <a:rPr spc="-185" dirty="0"/>
              <a:t> </a:t>
            </a:r>
            <a:r>
              <a:rPr spc="165" dirty="0"/>
              <a:t>generated</a:t>
            </a:r>
            <a:r>
              <a:rPr spc="-185" dirty="0"/>
              <a:t> </a:t>
            </a:r>
            <a:r>
              <a:rPr spc="135" dirty="0"/>
              <a:t>more</a:t>
            </a:r>
            <a:r>
              <a:rPr spc="-185" dirty="0"/>
              <a:t> </a:t>
            </a:r>
            <a:r>
              <a:rPr spc="150" dirty="0"/>
              <a:t>revenue?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531089" cy="926006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667338" y="820299"/>
            <a:ext cx="15621000" cy="9467215"/>
            <a:chOff x="2667338" y="820299"/>
            <a:chExt cx="15621000" cy="94672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7821" y="3567585"/>
              <a:ext cx="4610177" cy="671941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67338" y="820299"/>
              <a:ext cx="13458822" cy="70865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10405" y="-35464"/>
            <a:ext cx="37338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25" dirty="0">
                <a:latin typeface="Tahoma"/>
                <a:cs typeface="Tahoma"/>
              </a:rPr>
              <a:t>4.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Distribution</a:t>
            </a:r>
            <a:r>
              <a:rPr spc="-180" dirty="0"/>
              <a:t> </a:t>
            </a:r>
            <a:r>
              <a:rPr spc="265" dirty="0"/>
              <a:t>of</a:t>
            </a:r>
            <a:r>
              <a:rPr spc="-180" dirty="0"/>
              <a:t> </a:t>
            </a:r>
            <a:r>
              <a:rPr spc="150" dirty="0"/>
              <a:t>purchase</a:t>
            </a:r>
            <a:r>
              <a:rPr spc="-180" dirty="0"/>
              <a:t> </a:t>
            </a:r>
            <a:r>
              <a:rPr spc="170" dirty="0"/>
              <a:t>categories</a:t>
            </a:r>
            <a:r>
              <a:rPr spc="-175" dirty="0"/>
              <a:t> </a:t>
            </a:r>
            <a:r>
              <a:rPr spc="225" dirty="0"/>
              <a:t>relative</a:t>
            </a:r>
            <a:r>
              <a:rPr spc="-180" dirty="0"/>
              <a:t> </a:t>
            </a:r>
            <a:r>
              <a:rPr spc="270" dirty="0"/>
              <a:t>to</a:t>
            </a:r>
            <a:r>
              <a:rPr spc="-180" dirty="0"/>
              <a:t> </a:t>
            </a:r>
            <a:r>
              <a:rPr spc="215" dirty="0"/>
              <a:t>other</a:t>
            </a:r>
            <a:r>
              <a:rPr spc="-175" dirty="0"/>
              <a:t> </a:t>
            </a:r>
            <a:r>
              <a:rPr spc="140" dirty="0"/>
              <a:t>columns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3855896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78267" y="6353583"/>
              <a:ext cx="8109731" cy="393341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944" y="697354"/>
              <a:ext cx="13458822" cy="70865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5483" y="4240388"/>
              <a:ext cx="9512515" cy="551497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36450" y="-35464"/>
            <a:ext cx="34734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114" dirty="0">
                <a:latin typeface="Tahoma"/>
                <a:cs typeface="Tahoma"/>
              </a:rPr>
              <a:t>5.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9915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How</a:t>
            </a:r>
            <a:r>
              <a:rPr spc="-195" dirty="0"/>
              <a:t> </a:t>
            </a:r>
            <a:r>
              <a:rPr spc="105" dirty="0"/>
              <a:t>is</a:t>
            </a:r>
            <a:r>
              <a:rPr spc="-195" dirty="0"/>
              <a:t> </a:t>
            </a:r>
            <a:r>
              <a:rPr spc="215" dirty="0"/>
              <a:t>the</a:t>
            </a:r>
            <a:r>
              <a:rPr spc="-195" dirty="0"/>
              <a:t> </a:t>
            </a:r>
            <a:r>
              <a:rPr spc="114" dirty="0"/>
              <a:t>shopping</a:t>
            </a:r>
            <a:r>
              <a:rPr spc="-190" dirty="0"/>
              <a:t> </a:t>
            </a:r>
            <a:r>
              <a:rPr spc="175" dirty="0"/>
              <a:t>distribution</a:t>
            </a:r>
            <a:r>
              <a:rPr spc="-195" dirty="0"/>
              <a:t> </a:t>
            </a:r>
            <a:r>
              <a:rPr spc="150" dirty="0"/>
              <a:t>according</a:t>
            </a:r>
            <a:r>
              <a:rPr spc="-195" dirty="0"/>
              <a:t> </a:t>
            </a:r>
            <a:r>
              <a:rPr spc="270" dirty="0"/>
              <a:t>to</a:t>
            </a:r>
            <a:r>
              <a:rPr spc="-190" dirty="0"/>
              <a:t> </a:t>
            </a:r>
            <a:r>
              <a:rPr spc="120" dirty="0"/>
              <a:t>age?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0608" y="8314988"/>
            <a:ext cx="8514715" cy="176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5500"/>
              </a:lnSpc>
              <a:spcBef>
                <a:spcPts val="100"/>
              </a:spcBef>
            </a:pPr>
            <a:r>
              <a:rPr sz="3300" spc="-50" dirty="0">
                <a:latin typeface="Verdana"/>
                <a:cs typeface="Verdana"/>
              </a:rPr>
              <a:t>Shopping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spc="-10" dirty="0">
                <a:latin typeface="Verdana"/>
                <a:cs typeface="Verdana"/>
              </a:rPr>
              <a:t>is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spc="-35" dirty="0">
                <a:latin typeface="Verdana"/>
                <a:cs typeface="Verdana"/>
              </a:rPr>
              <a:t>steady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across</a:t>
            </a:r>
            <a:r>
              <a:rPr sz="3300" spc="-215" dirty="0">
                <a:latin typeface="Verdana"/>
                <a:cs typeface="Verdana"/>
              </a:rPr>
              <a:t> </a:t>
            </a:r>
            <a:r>
              <a:rPr sz="3300" spc="-35" dirty="0">
                <a:latin typeface="Verdana"/>
                <a:cs typeface="Verdana"/>
              </a:rPr>
              <a:t>ages,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spc="-125" dirty="0">
                <a:latin typeface="Verdana"/>
                <a:cs typeface="Verdana"/>
              </a:rPr>
              <a:t>with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spc="-25" dirty="0">
                <a:latin typeface="Verdana"/>
                <a:cs typeface="Verdana"/>
              </a:rPr>
              <a:t>age </a:t>
            </a:r>
            <a:r>
              <a:rPr sz="3300" spc="-95" dirty="0">
                <a:latin typeface="Verdana"/>
                <a:cs typeface="Verdana"/>
              </a:rPr>
              <a:t>37</a:t>
            </a:r>
            <a:r>
              <a:rPr sz="3300" spc="-200" dirty="0">
                <a:latin typeface="Verdana"/>
                <a:cs typeface="Verdana"/>
              </a:rPr>
              <a:t> </a:t>
            </a:r>
            <a:r>
              <a:rPr sz="3300" spc="-70" dirty="0">
                <a:latin typeface="Verdana"/>
                <a:cs typeface="Verdana"/>
              </a:rPr>
              <a:t>slightly</a:t>
            </a:r>
            <a:r>
              <a:rPr sz="3300" spc="-200" dirty="0">
                <a:latin typeface="Verdana"/>
                <a:cs typeface="Verdana"/>
              </a:rPr>
              <a:t> </a:t>
            </a:r>
            <a:r>
              <a:rPr sz="3300" spc="-155" dirty="0">
                <a:latin typeface="Verdana"/>
                <a:cs typeface="Verdana"/>
              </a:rPr>
              <a:t>higher.</a:t>
            </a:r>
            <a:r>
              <a:rPr sz="3300" spc="-200" dirty="0">
                <a:latin typeface="Verdana"/>
                <a:cs typeface="Verdana"/>
              </a:rPr>
              <a:t> </a:t>
            </a:r>
            <a:r>
              <a:rPr sz="3300" spc="-60" dirty="0">
                <a:latin typeface="Verdana"/>
                <a:cs typeface="Verdana"/>
              </a:rPr>
              <a:t>Middle-</a:t>
            </a:r>
            <a:r>
              <a:rPr sz="3300" dirty="0">
                <a:latin typeface="Verdana"/>
                <a:cs typeface="Verdana"/>
              </a:rPr>
              <a:t>aged</a:t>
            </a:r>
            <a:r>
              <a:rPr sz="3300" spc="-195" dirty="0">
                <a:latin typeface="Verdana"/>
                <a:cs typeface="Verdana"/>
              </a:rPr>
              <a:t> </a:t>
            </a:r>
            <a:r>
              <a:rPr sz="3300" spc="-10" dirty="0">
                <a:latin typeface="Verdana"/>
                <a:cs typeface="Verdana"/>
              </a:rPr>
              <a:t>customers </a:t>
            </a:r>
            <a:r>
              <a:rPr sz="3300" spc="-110" dirty="0">
                <a:latin typeface="Verdana"/>
                <a:cs typeface="Verdana"/>
              </a:rPr>
              <a:t>are</a:t>
            </a:r>
            <a:r>
              <a:rPr sz="3300" spc="-215" dirty="0">
                <a:latin typeface="Verdana"/>
                <a:cs typeface="Verdana"/>
              </a:rPr>
              <a:t> </a:t>
            </a:r>
            <a:r>
              <a:rPr sz="3300" spc="-30" dirty="0">
                <a:latin typeface="Verdana"/>
                <a:cs typeface="Verdana"/>
              </a:rPr>
              <a:t>consistent</a:t>
            </a:r>
            <a:r>
              <a:rPr sz="3300" spc="-210" dirty="0">
                <a:latin typeface="Verdana"/>
                <a:cs typeface="Verdana"/>
              </a:rPr>
              <a:t> </a:t>
            </a:r>
            <a:r>
              <a:rPr sz="3300" spc="-10" dirty="0">
                <a:latin typeface="Verdana"/>
                <a:cs typeface="Verdana"/>
              </a:rPr>
              <a:t>buyers.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531089" cy="926006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596502" y="1254222"/>
            <a:ext cx="15692119" cy="9032875"/>
            <a:chOff x="2596502" y="1254222"/>
            <a:chExt cx="15692119" cy="90328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7821" y="3567585"/>
              <a:ext cx="4610177" cy="671941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96502" y="1254222"/>
              <a:ext cx="13458822" cy="707707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23800" y="-35464"/>
            <a:ext cx="35941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60" dirty="0">
                <a:latin typeface="Tahoma"/>
                <a:cs typeface="Tahoma"/>
              </a:rPr>
              <a:t>6.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100"/>
              </a:spcBef>
            </a:pPr>
            <a:r>
              <a:rPr spc="160" dirty="0"/>
              <a:t>Which</a:t>
            </a:r>
            <a:r>
              <a:rPr spc="-190" dirty="0"/>
              <a:t> </a:t>
            </a:r>
            <a:r>
              <a:rPr spc="145" dirty="0"/>
              <a:t>age</a:t>
            </a:r>
            <a:r>
              <a:rPr spc="-190" dirty="0"/>
              <a:t> </a:t>
            </a:r>
            <a:r>
              <a:rPr spc="215" dirty="0"/>
              <a:t>category</a:t>
            </a:r>
            <a:r>
              <a:rPr spc="-185" dirty="0"/>
              <a:t> </a:t>
            </a:r>
            <a:r>
              <a:rPr spc="170" dirty="0"/>
              <a:t>bought</a:t>
            </a:r>
            <a:r>
              <a:rPr spc="-190" dirty="0"/>
              <a:t> </a:t>
            </a:r>
            <a:r>
              <a:rPr spc="135" dirty="0"/>
              <a:t>more</a:t>
            </a:r>
            <a:r>
              <a:rPr spc="-190" dirty="0"/>
              <a:t> </a:t>
            </a:r>
            <a:r>
              <a:rPr spc="155" dirty="0"/>
              <a:t>products?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531089" cy="926006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415389" y="1028700"/>
            <a:ext cx="15873094" cy="9258300"/>
            <a:chOff x="2415389" y="1028700"/>
            <a:chExt cx="15873094" cy="92583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7821" y="3567585"/>
              <a:ext cx="4610177" cy="671941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5389" y="1028700"/>
              <a:ext cx="13458822" cy="710564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23353" y="-35464"/>
            <a:ext cx="36004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65" dirty="0">
                <a:latin typeface="Tahoma"/>
                <a:cs typeface="Tahoma"/>
              </a:rPr>
              <a:t>7.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0" dirty="0"/>
              <a:t>Which</a:t>
            </a:r>
            <a:r>
              <a:rPr spc="-190" dirty="0"/>
              <a:t> </a:t>
            </a:r>
            <a:r>
              <a:rPr spc="145" dirty="0"/>
              <a:t>age</a:t>
            </a:r>
            <a:r>
              <a:rPr spc="-185" dirty="0"/>
              <a:t> </a:t>
            </a:r>
            <a:r>
              <a:rPr spc="215" dirty="0"/>
              <a:t>category</a:t>
            </a:r>
            <a:r>
              <a:rPr spc="-190" dirty="0"/>
              <a:t> </a:t>
            </a:r>
            <a:r>
              <a:rPr spc="165" dirty="0"/>
              <a:t>generated</a:t>
            </a:r>
            <a:r>
              <a:rPr spc="-185" dirty="0"/>
              <a:t> </a:t>
            </a:r>
            <a:r>
              <a:rPr spc="135" dirty="0"/>
              <a:t>more</a:t>
            </a:r>
            <a:r>
              <a:rPr spc="-190" dirty="0"/>
              <a:t> </a:t>
            </a:r>
            <a:r>
              <a:rPr spc="150" dirty="0"/>
              <a:t>revenue?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0171" y="0"/>
            <a:ext cx="9620249" cy="555247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55739"/>
            <a:ext cx="18004155" cy="9631680"/>
            <a:chOff x="0" y="655739"/>
            <a:chExt cx="18004155" cy="96316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01103"/>
              <a:ext cx="4878922" cy="86858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572" y="655739"/>
              <a:ext cx="13458822" cy="70199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26352" y="2837736"/>
              <a:ext cx="9077324" cy="577214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14573" y="-35464"/>
            <a:ext cx="36893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25" dirty="0">
                <a:latin typeface="Tahoma"/>
                <a:cs typeface="Tahoma"/>
              </a:rPr>
              <a:t>8.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7505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Distribution</a:t>
            </a:r>
            <a:r>
              <a:rPr spc="-180" dirty="0"/>
              <a:t> </a:t>
            </a:r>
            <a:r>
              <a:rPr spc="265" dirty="0"/>
              <a:t>of</a:t>
            </a:r>
            <a:r>
              <a:rPr spc="-180" dirty="0"/>
              <a:t> </a:t>
            </a:r>
            <a:r>
              <a:rPr spc="150" dirty="0"/>
              <a:t>purchase</a:t>
            </a:r>
            <a:r>
              <a:rPr spc="-180" dirty="0"/>
              <a:t> </a:t>
            </a:r>
            <a:r>
              <a:rPr spc="170" dirty="0"/>
              <a:t>categories</a:t>
            </a:r>
            <a:r>
              <a:rPr spc="-175" dirty="0"/>
              <a:t> </a:t>
            </a:r>
            <a:r>
              <a:rPr spc="225" dirty="0"/>
              <a:t>relative</a:t>
            </a:r>
            <a:r>
              <a:rPr spc="-180" dirty="0"/>
              <a:t> </a:t>
            </a:r>
            <a:r>
              <a:rPr spc="270" dirty="0"/>
              <a:t>to</a:t>
            </a:r>
            <a:r>
              <a:rPr spc="-180" dirty="0"/>
              <a:t> </a:t>
            </a:r>
            <a:r>
              <a:rPr spc="215" dirty="0"/>
              <a:t>other</a:t>
            </a:r>
            <a:r>
              <a:rPr spc="-175" dirty="0"/>
              <a:t> </a:t>
            </a:r>
            <a:r>
              <a:rPr spc="140" dirty="0"/>
              <a:t>columns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46728" y="8654922"/>
            <a:ext cx="15652750" cy="1187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62525" marR="5080" indent="-4950460">
              <a:lnSpc>
                <a:spcPct val="115500"/>
              </a:lnSpc>
              <a:spcBef>
                <a:spcPts val="100"/>
              </a:spcBef>
            </a:pPr>
            <a:r>
              <a:rPr sz="3300" spc="-65" dirty="0">
                <a:latin typeface="Verdana"/>
                <a:cs typeface="Verdana"/>
              </a:rPr>
              <a:t>Clothing</a:t>
            </a:r>
            <a:r>
              <a:rPr sz="3300" spc="-235" dirty="0">
                <a:latin typeface="Verdana"/>
                <a:cs typeface="Verdana"/>
              </a:rPr>
              <a:t> </a:t>
            </a:r>
            <a:r>
              <a:rPr sz="3300" spc="-10" dirty="0">
                <a:latin typeface="Verdana"/>
                <a:cs typeface="Verdana"/>
              </a:rPr>
              <a:t>is</a:t>
            </a:r>
            <a:r>
              <a:rPr sz="3300" spc="-235" dirty="0">
                <a:latin typeface="Verdana"/>
                <a:cs typeface="Verdana"/>
              </a:rPr>
              <a:t> </a:t>
            </a:r>
            <a:r>
              <a:rPr sz="3300" spc="-55" dirty="0">
                <a:latin typeface="Verdana"/>
                <a:cs typeface="Verdana"/>
              </a:rPr>
              <a:t>most</a:t>
            </a:r>
            <a:r>
              <a:rPr sz="3300" spc="-229" dirty="0">
                <a:latin typeface="Verdana"/>
                <a:cs typeface="Verdana"/>
              </a:rPr>
              <a:t> </a:t>
            </a:r>
            <a:r>
              <a:rPr sz="3300" spc="-85" dirty="0">
                <a:latin typeface="Verdana"/>
                <a:cs typeface="Verdana"/>
              </a:rPr>
              <a:t>popular,</a:t>
            </a:r>
            <a:r>
              <a:rPr sz="3300" spc="-235" dirty="0">
                <a:latin typeface="Verdana"/>
                <a:cs typeface="Verdana"/>
              </a:rPr>
              <a:t> </a:t>
            </a:r>
            <a:r>
              <a:rPr sz="3300" spc="-95" dirty="0">
                <a:latin typeface="Verdana"/>
                <a:cs typeface="Verdana"/>
              </a:rPr>
              <a:t>and</a:t>
            </a:r>
            <a:r>
              <a:rPr sz="3300" spc="-229" dirty="0">
                <a:latin typeface="Verdana"/>
                <a:cs typeface="Verdana"/>
              </a:rPr>
              <a:t> </a:t>
            </a:r>
            <a:r>
              <a:rPr sz="3300" spc="-55" dirty="0">
                <a:latin typeface="Verdana"/>
                <a:cs typeface="Verdana"/>
              </a:rPr>
              <a:t>Credit</a:t>
            </a:r>
            <a:r>
              <a:rPr sz="3300" spc="-235" dirty="0">
                <a:latin typeface="Verdana"/>
                <a:cs typeface="Verdana"/>
              </a:rPr>
              <a:t> </a:t>
            </a:r>
            <a:r>
              <a:rPr sz="3300" spc="-55" dirty="0">
                <a:latin typeface="Verdana"/>
                <a:cs typeface="Verdana"/>
              </a:rPr>
              <a:t>Card</a:t>
            </a:r>
            <a:r>
              <a:rPr sz="3300" spc="-229" dirty="0">
                <a:latin typeface="Verdana"/>
                <a:cs typeface="Verdana"/>
              </a:rPr>
              <a:t> </a:t>
            </a:r>
            <a:r>
              <a:rPr sz="3300" spc="-10" dirty="0">
                <a:latin typeface="Verdana"/>
                <a:cs typeface="Verdana"/>
              </a:rPr>
              <a:t>is</a:t>
            </a:r>
            <a:r>
              <a:rPr sz="3300" spc="-235" dirty="0">
                <a:latin typeface="Verdana"/>
                <a:cs typeface="Verdana"/>
              </a:rPr>
              <a:t> </a:t>
            </a:r>
            <a:r>
              <a:rPr sz="3300" spc="-80" dirty="0">
                <a:latin typeface="Verdana"/>
                <a:cs typeface="Verdana"/>
              </a:rPr>
              <a:t>the</a:t>
            </a:r>
            <a:r>
              <a:rPr sz="3300" spc="-235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top</a:t>
            </a:r>
            <a:r>
              <a:rPr sz="3300" spc="-229" dirty="0">
                <a:latin typeface="Verdana"/>
                <a:cs typeface="Verdana"/>
              </a:rPr>
              <a:t> </a:t>
            </a:r>
            <a:r>
              <a:rPr sz="3300" spc="-10" dirty="0">
                <a:latin typeface="Verdana"/>
                <a:cs typeface="Verdana"/>
              </a:rPr>
              <a:t>choice.</a:t>
            </a:r>
            <a:r>
              <a:rPr sz="3300" spc="-235" dirty="0">
                <a:latin typeface="Verdana"/>
                <a:cs typeface="Verdana"/>
              </a:rPr>
              <a:t> </a:t>
            </a:r>
            <a:r>
              <a:rPr sz="3300" spc="-40" dirty="0">
                <a:latin typeface="Verdana"/>
                <a:cs typeface="Verdana"/>
              </a:rPr>
              <a:t>Customers</a:t>
            </a:r>
            <a:r>
              <a:rPr sz="3300" spc="-229" dirty="0">
                <a:latin typeface="Verdana"/>
                <a:cs typeface="Verdana"/>
              </a:rPr>
              <a:t> </a:t>
            </a:r>
            <a:r>
              <a:rPr sz="3300" spc="-10" dirty="0">
                <a:latin typeface="Verdana"/>
                <a:cs typeface="Verdana"/>
              </a:rPr>
              <a:t>prefer </a:t>
            </a:r>
            <a:r>
              <a:rPr sz="3300" dirty="0">
                <a:latin typeface="Verdana"/>
                <a:cs typeface="Verdana"/>
              </a:rPr>
              <a:t>cards</a:t>
            </a:r>
            <a:r>
              <a:rPr sz="3300" spc="-215" dirty="0">
                <a:latin typeface="Verdana"/>
                <a:cs typeface="Verdana"/>
              </a:rPr>
              <a:t> </a:t>
            </a:r>
            <a:r>
              <a:rPr sz="3300" spc="-75" dirty="0">
                <a:latin typeface="Verdana"/>
                <a:cs typeface="Verdana"/>
              </a:rPr>
              <a:t>for</a:t>
            </a:r>
            <a:r>
              <a:rPr sz="3300" spc="-210" dirty="0">
                <a:latin typeface="Verdana"/>
                <a:cs typeface="Verdana"/>
              </a:rPr>
              <a:t> </a:t>
            </a:r>
            <a:r>
              <a:rPr sz="3300" spc="-80" dirty="0">
                <a:latin typeface="Verdana"/>
                <a:cs typeface="Verdana"/>
              </a:rPr>
              <a:t>fashion</a:t>
            </a:r>
            <a:r>
              <a:rPr sz="3300" spc="-210" dirty="0">
                <a:latin typeface="Verdana"/>
                <a:cs typeface="Verdana"/>
              </a:rPr>
              <a:t> </a:t>
            </a:r>
            <a:r>
              <a:rPr sz="3300" spc="-10" dirty="0">
                <a:latin typeface="Verdana"/>
                <a:cs typeface="Verdana"/>
              </a:rPr>
              <a:t>purchases.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531089" cy="92600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77820" y="3567585"/>
            <a:ext cx="4610177" cy="67194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497205"/>
            <a:ext cx="13430249" cy="72675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3800" y="-35464"/>
            <a:ext cx="35941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60" dirty="0">
                <a:latin typeface="Tahoma"/>
                <a:cs typeface="Tahoma"/>
              </a:rPr>
              <a:t>9.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Does</a:t>
            </a:r>
            <a:r>
              <a:rPr spc="-190" dirty="0"/>
              <a:t> </a:t>
            </a:r>
            <a:r>
              <a:rPr spc="215" dirty="0"/>
              <a:t>the</a:t>
            </a:r>
            <a:r>
              <a:rPr spc="-190" dirty="0"/>
              <a:t> </a:t>
            </a:r>
            <a:r>
              <a:rPr spc="165" dirty="0"/>
              <a:t>payment</a:t>
            </a:r>
            <a:r>
              <a:rPr spc="-190" dirty="0"/>
              <a:t> </a:t>
            </a:r>
            <a:r>
              <a:rPr spc="155" dirty="0"/>
              <a:t>method</a:t>
            </a:r>
            <a:r>
              <a:rPr spc="-190" dirty="0"/>
              <a:t> </a:t>
            </a:r>
            <a:r>
              <a:rPr spc="200" dirty="0"/>
              <a:t>have</a:t>
            </a:r>
            <a:r>
              <a:rPr spc="-190" dirty="0"/>
              <a:t> </a:t>
            </a:r>
            <a:r>
              <a:rPr spc="225" dirty="0"/>
              <a:t>a</a:t>
            </a:r>
            <a:r>
              <a:rPr spc="-190" dirty="0"/>
              <a:t> </a:t>
            </a:r>
            <a:r>
              <a:rPr spc="204" dirty="0"/>
              <a:t>relation</a:t>
            </a:r>
            <a:r>
              <a:rPr spc="-185" dirty="0"/>
              <a:t> </a:t>
            </a:r>
            <a:r>
              <a:rPr spc="185" dirty="0"/>
              <a:t>with</a:t>
            </a:r>
            <a:r>
              <a:rPr spc="-190" dirty="0"/>
              <a:t> </a:t>
            </a:r>
            <a:r>
              <a:rPr spc="215" dirty="0"/>
              <a:t>other</a:t>
            </a:r>
            <a:r>
              <a:rPr spc="-190" dirty="0"/>
              <a:t> </a:t>
            </a:r>
            <a:r>
              <a:rPr spc="135" dirty="0"/>
              <a:t>columns?</a:t>
            </a: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35374" y="4129577"/>
            <a:ext cx="9448799" cy="56578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871" y="7648264"/>
            <a:ext cx="8156575" cy="2349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5500"/>
              </a:lnSpc>
              <a:spcBef>
                <a:spcPts val="100"/>
              </a:spcBef>
            </a:pPr>
            <a:r>
              <a:rPr sz="3300" spc="-25" dirty="0">
                <a:latin typeface="Verdana"/>
                <a:cs typeface="Verdana"/>
              </a:rPr>
              <a:t>Females</a:t>
            </a:r>
            <a:r>
              <a:rPr sz="3300" spc="-229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use</a:t>
            </a:r>
            <a:r>
              <a:rPr sz="3300" spc="-225" dirty="0">
                <a:latin typeface="Verdana"/>
                <a:cs typeface="Verdana"/>
              </a:rPr>
              <a:t> </a:t>
            </a:r>
            <a:r>
              <a:rPr sz="3300" spc="-30" dirty="0">
                <a:latin typeface="Verdana"/>
                <a:cs typeface="Verdana"/>
              </a:rPr>
              <a:t>all</a:t>
            </a:r>
            <a:r>
              <a:rPr sz="3300" spc="-225" dirty="0">
                <a:latin typeface="Verdana"/>
                <a:cs typeface="Verdana"/>
              </a:rPr>
              <a:t> </a:t>
            </a:r>
            <a:r>
              <a:rPr sz="3300" spc="-110" dirty="0">
                <a:latin typeface="Verdana"/>
                <a:cs typeface="Verdana"/>
              </a:rPr>
              <a:t>payment</a:t>
            </a:r>
            <a:r>
              <a:rPr sz="3300" spc="-229" dirty="0">
                <a:latin typeface="Verdana"/>
                <a:cs typeface="Verdana"/>
              </a:rPr>
              <a:t> </a:t>
            </a:r>
            <a:r>
              <a:rPr sz="3300" spc="-50" dirty="0">
                <a:latin typeface="Verdana"/>
                <a:cs typeface="Verdana"/>
              </a:rPr>
              <a:t>methods</a:t>
            </a:r>
            <a:r>
              <a:rPr sz="3300" spc="-225" dirty="0">
                <a:latin typeface="Verdana"/>
                <a:cs typeface="Verdana"/>
              </a:rPr>
              <a:t> </a:t>
            </a:r>
            <a:r>
              <a:rPr sz="3300" spc="-20" dirty="0">
                <a:latin typeface="Verdana"/>
                <a:cs typeface="Verdana"/>
              </a:rPr>
              <a:t>more </a:t>
            </a:r>
            <a:r>
              <a:rPr sz="3300" spc="-160" dirty="0">
                <a:latin typeface="Verdana"/>
                <a:cs typeface="Verdana"/>
              </a:rPr>
              <a:t>than</a:t>
            </a:r>
            <a:r>
              <a:rPr sz="3300" spc="-225" dirty="0">
                <a:latin typeface="Verdana"/>
                <a:cs typeface="Verdana"/>
              </a:rPr>
              <a:t> </a:t>
            </a:r>
            <a:r>
              <a:rPr sz="3300" spc="-120" dirty="0">
                <a:latin typeface="Verdana"/>
                <a:cs typeface="Verdana"/>
              </a:rPr>
              <a:t>males.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spc="-65" dirty="0">
                <a:latin typeface="Verdana"/>
                <a:cs typeface="Verdana"/>
              </a:rPr>
              <a:t>Debit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spc="-55" dirty="0">
                <a:latin typeface="Verdana"/>
                <a:cs typeface="Verdana"/>
              </a:rPr>
              <a:t>Card</a:t>
            </a:r>
            <a:r>
              <a:rPr sz="3300" spc="-225" dirty="0">
                <a:latin typeface="Verdana"/>
                <a:cs typeface="Verdana"/>
              </a:rPr>
              <a:t> </a:t>
            </a:r>
            <a:r>
              <a:rPr sz="3300" spc="-10" dirty="0">
                <a:latin typeface="Verdana"/>
                <a:cs typeface="Verdana"/>
              </a:rPr>
              <a:t>is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spc="-25" dirty="0">
                <a:latin typeface="Verdana"/>
                <a:cs typeface="Verdana"/>
              </a:rPr>
              <a:t>least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spc="-20" dirty="0">
                <a:latin typeface="Verdana"/>
                <a:cs typeface="Verdana"/>
              </a:rPr>
              <a:t>used </a:t>
            </a:r>
            <a:r>
              <a:rPr sz="3300" spc="-105" dirty="0">
                <a:latin typeface="Verdana"/>
                <a:cs typeface="Verdana"/>
              </a:rPr>
              <a:t>overall,</a:t>
            </a:r>
            <a:r>
              <a:rPr sz="3300" spc="-215" dirty="0">
                <a:latin typeface="Verdana"/>
                <a:cs typeface="Verdana"/>
              </a:rPr>
              <a:t> </a:t>
            </a:r>
            <a:r>
              <a:rPr sz="3300" spc="-100" dirty="0">
                <a:latin typeface="Verdana"/>
                <a:cs typeface="Verdana"/>
              </a:rPr>
              <a:t>but</a:t>
            </a:r>
            <a:r>
              <a:rPr sz="3300" spc="-210" dirty="0">
                <a:latin typeface="Verdana"/>
                <a:cs typeface="Verdana"/>
              </a:rPr>
              <a:t> </a:t>
            </a:r>
            <a:r>
              <a:rPr sz="3300" spc="-35" dirty="0">
                <a:latin typeface="Verdana"/>
                <a:cs typeface="Verdana"/>
              </a:rPr>
              <a:t>still</a:t>
            </a:r>
            <a:r>
              <a:rPr sz="3300" spc="-215" dirty="0">
                <a:latin typeface="Verdana"/>
                <a:cs typeface="Verdana"/>
              </a:rPr>
              <a:t> </a:t>
            </a:r>
            <a:r>
              <a:rPr sz="3300" spc="-100" dirty="0">
                <a:latin typeface="Verdana"/>
                <a:cs typeface="Verdana"/>
              </a:rPr>
              <a:t>more</a:t>
            </a:r>
            <a:r>
              <a:rPr sz="3300" spc="-210" dirty="0">
                <a:latin typeface="Verdana"/>
                <a:cs typeface="Verdana"/>
              </a:rPr>
              <a:t> </a:t>
            </a:r>
            <a:r>
              <a:rPr sz="3300" spc="-60" dirty="0">
                <a:latin typeface="Verdana"/>
                <a:cs typeface="Verdana"/>
              </a:rPr>
              <a:t>popular</a:t>
            </a:r>
            <a:r>
              <a:rPr sz="3300" spc="-210" dirty="0">
                <a:latin typeface="Verdana"/>
                <a:cs typeface="Verdana"/>
              </a:rPr>
              <a:t> </a:t>
            </a:r>
            <a:r>
              <a:rPr sz="3300" spc="-10" dirty="0">
                <a:latin typeface="Verdana"/>
                <a:cs typeface="Verdana"/>
              </a:rPr>
              <a:t>among women.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531089" cy="92600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77820" y="3567585"/>
            <a:ext cx="4610177" cy="671941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497205"/>
            <a:ext cx="18288000" cy="9130030"/>
            <a:chOff x="0" y="497205"/>
            <a:chExt cx="18288000" cy="913003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497205"/>
              <a:ext cx="13439774" cy="70008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2476" y="3550174"/>
              <a:ext cx="9465522" cy="607694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3151" y="-35464"/>
            <a:ext cx="55054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145" dirty="0">
                <a:latin typeface="Tahoma"/>
                <a:cs typeface="Tahoma"/>
              </a:rPr>
              <a:t>10.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Distribution</a:t>
            </a:r>
            <a:r>
              <a:rPr spc="-185" dirty="0"/>
              <a:t> </a:t>
            </a:r>
            <a:r>
              <a:rPr spc="265" dirty="0"/>
              <a:t>of</a:t>
            </a:r>
            <a:r>
              <a:rPr spc="-180" dirty="0"/>
              <a:t> </a:t>
            </a:r>
            <a:r>
              <a:rPr spc="215" dirty="0"/>
              <a:t>the</a:t>
            </a:r>
            <a:r>
              <a:rPr spc="-180" dirty="0"/>
              <a:t> </a:t>
            </a:r>
            <a:r>
              <a:rPr spc="165" dirty="0"/>
              <a:t>payment</a:t>
            </a:r>
            <a:r>
              <a:rPr spc="-180" dirty="0"/>
              <a:t> </a:t>
            </a:r>
            <a:r>
              <a:rPr spc="145" dirty="0"/>
              <a:t>method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95638" y="7554683"/>
            <a:ext cx="8215630" cy="2546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indent="-635" algn="ctr">
              <a:lnSpc>
                <a:spcPct val="116500"/>
              </a:lnSpc>
              <a:spcBef>
                <a:spcPts val="90"/>
              </a:spcBef>
            </a:pPr>
            <a:r>
              <a:rPr sz="3550" dirty="0">
                <a:latin typeface="Verdana"/>
                <a:cs typeface="Verdana"/>
              </a:rPr>
              <a:t>Cash</a:t>
            </a:r>
            <a:r>
              <a:rPr sz="3550" spc="-265" dirty="0">
                <a:latin typeface="Verdana"/>
                <a:cs typeface="Verdana"/>
              </a:rPr>
              <a:t> </a:t>
            </a:r>
            <a:r>
              <a:rPr sz="3550" dirty="0">
                <a:latin typeface="Verdana"/>
                <a:cs typeface="Verdana"/>
              </a:rPr>
              <a:t>is</a:t>
            </a:r>
            <a:r>
              <a:rPr sz="3550" spc="-260" dirty="0">
                <a:latin typeface="Verdana"/>
                <a:cs typeface="Verdana"/>
              </a:rPr>
              <a:t> </a:t>
            </a:r>
            <a:r>
              <a:rPr sz="3550" spc="-25" dirty="0">
                <a:latin typeface="Verdana"/>
                <a:cs typeface="Verdana"/>
              </a:rPr>
              <a:t>most</a:t>
            </a:r>
            <a:r>
              <a:rPr sz="3550" spc="-254" dirty="0">
                <a:latin typeface="Verdana"/>
                <a:cs typeface="Verdana"/>
              </a:rPr>
              <a:t> </a:t>
            </a:r>
            <a:r>
              <a:rPr sz="3550" spc="-55" dirty="0">
                <a:latin typeface="Verdana"/>
                <a:cs typeface="Verdana"/>
              </a:rPr>
              <a:t>used,</a:t>
            </a:r>
            <a:r>
              <a:rPr sz="3550" spc="-260" dirty="0">
                <a:latin typeface="Verdana"/>
                <a:cs typeface="Verdana"/>
              </a:rPr>
              <a:t> </a:t>
            </a:r>
            <a:r>
              <a:rPr sz="3550" spc="-35" dirty="0">
                <a:latin typeface="Verdana"/>
                <a:cs typeface="Verdana"/>
              </a:rPr>
              <a:t>Credit</a:t>
            </a:r>
            <a:r>
              <a:rPr sz="3550" spc="-260" dirty="0">
                <a:latin typeface="Verdana"/>
                <a:cs typeface="Verdana"/>
              </a:rPr>
              <a:t> </a:t>
            </a:r>
            <a:r>
              <a:rPr sz="3550" spc="-20" dirty="0">
                <a:latin typeface="Verdana"/>
                <a:cs typeface="Verdana"/>
              </a:rPr>
              <a:t>Card </a:t>
            </a:r>
            <a:r>
              <a:rPr sz="3550" spc="80" dirty="0">
                <a:latin typeface="Verdana"/>
                <a:cs typeface="Verdana"/>
              </a:rPr>
              <a:t>comes</a:t>
            </a:r>
            <a:r>
              <a:rPr sz="3550" spc="-220" dirty="0">
                <a:latin typeface="Verdana"/>
                <a:cs typeface="Verdana"/>
              </a:rPr>
              <a:t> </a:t>
            </a:r>
            <a:r>
              <a:rPr sz="3550" dirty="0">
                <a:latin typeface="Verdana"/>
                <a:cs typeface="Verdana"/>
              </a:rPr>
              <a:t>second,</a:t>
            </a:r>
            <a:r>
              <a:rPr sz="3550" spc="-220" dirty="0">
                <a:latin typeface="Verdana"/>
                <a:cs typeface="Verdana"/>
              </a:rPr>
              <a:t> </a:t>
            </a:r>
            <a:r>
              <a:rPr sz="3550" spc="-60" dirty="0">
                <a:latin typeface="Verdana"/>
                <a:cs typeface="Verdana"/>
              </a:rPr>
              <a:t>Debit</a:t>
            </a:r>
            <a:r>
              <a:rPr sz="3550" spc="-215" dirty="0">
                <a:latin typeface="Verdana"/>
                <a:cs typeface="Verdana"/>
              </a:rPr>
              <a:t> </a:t>
            </a:r>
            <a:r>
              <a:rPr sz="3550" spc="-30" dirty="0">
                <a:latin typeface="Verdana"/>
                <a:cs typeface="Verdana"/>
              </a:rPr>
              <a:t>Card</a:t>
            </a:r>
            <a:r>
              <a:rPr sz="3550" spc="-220" dirty="0">
                <a:latin typeface="Verdana"/>
                <a:cs typeface="Verdana"/>
              </a:rPr>
              <a:t> </a:t>
            </a:r>
            <a:r>
              <a:rPr sz="3550" dirty="0">
                <a:latin typeface="Verdana"/>
                <a:cs typeface="Verdana"/>
              </a:rPr>
              <a:t>is</a:t>
            </a:r>
            <a:r>
              <a:rPr sz="3550" spc="-215" dirty="0">
                <a:latin typeface="Verdana"/>
                <a:cs typeface="Verdana"/>
              </a:rPr>
              <a:t> </a:t>
            </a:r>
            <a:r>
              <a:rPr sz="3550" spc="-10" dirty="0">
                <a:latin typeface="Verdana"/>
                <a:cs typeface="Verdana"/>
              </a:rPr>
              <a:t>least </a:t>
            </a:r>
            <a:r>
              <a:rPr sz="3550" spc="-105" dirty="0">
                <a:latin typeface="Verdana"/>
                <a:cs typeface="Verdana"/>
              </a:rPr>
              <a:t>preferred.</a:t>
            </a:r>
            <a:r>
              <a:rPr sz="3550" spc="-229" dirty="0">
                <a:latin typeface="Verdana"/>
                <a:cs typeface="Verdana"/>
              </a:rPr>
              <a:t> </a:t>
            </a:r>
            <a:r>
              <a:rPr sz="3550" spc="-20" dirty="0">
                <a:latin typeface="Verdana"/>
                <a:cs typeface="Verdana"/>
              </a:rPr>
              <a:t>Customers</a:t>
            </a:r>
            <a:r>
              <a:rPr sz="3550" spc="-225" dirty="0">
                <a:latin typeface="Verdana"/>
                <a:cs typeface="Verdana"/>
              </a:rPr>
              <a:t> </a:t>
            </a:r>
            <a:r>
              <a:rPr sz="3550" spc="-30" dirty="0">
                <a:latin typeface="Verdana"/>
                <a:cs typeface="Verdana"/>
              </a:rPr>
              <a:t>still</a:t>
            </a:r>
            <a:r>
              <a:rPr sz="3550" spc="-225" dirty="0">
                <a:latin typeface="Verdana"/>
                <a:cs typeface="Verdana"/>
              </a:rPr>
              <a:t> </a:t>
            </a:r>
            <a:r>
              <a:rPr sz="3550" spc="-90" dirty="0">
                <a:latin typeface="Verdana"/>
                <a:cs typeface="Verdana"/>
              </a:rPr>
              <a:t>rely</a:t>
            </a:r>
            <a:r>
              <a:rPr sz="3550" spc="-225" dirty="0">
                <a:latin typeface="Verdana"/>
                <a:cs typeface="Verdana"/>
              </a:rPr>
              <a:t> </a:t>
            </a:r>
            <a:r>
              <a:rPr sz="3550" spc="-50" dirty="0">
                <a:latin typeface="Verdana"/>
                <a:cs typeface="Verdana"/>
              </a:rPr>
              <a:t>heavily </a:t>
            </a:r>
            <a:r>
              <a:rPr sz="3550" spc="-20" dirty="0">
                <a:latin typeface="Verdana"/>
                <a:cs typeface="Verdana"/>
              </a:rPr>
              <a:t>on</a:t>
            </a:r>
            <a:r>
              <a:rPr sz="3550" spc="-290" dirty="0">
                <a:latin typeface="Verdana"/>
                <a:cs typeface="Verdana"/>
              </a:rPr>
              <a:t> </a:t>
            </a:r>
            <a:r>
              <a:rPr sz="3550" spc="-10" dirty="0">
                <a:latin typeface="Verdana"/>
                <a:cs typeface="Verdana"/>
              </a:rPr>
              <a:t>cash.</a:t>
            </a:r>
            <a:endParaRPr sz="35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00943" cy="771580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29148" y="4165234"/>
            <a:ext cx="482981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0" spc="465" dirty="0">
                <a:solidFill>
                  <a:srgbClr val="2A2A2A"/>
                </a:solidFill>
              </a:rPr>
              <a:t>Thank</a:t>
            </a:r>
            <a:r>
              <a:rPr sz="7000" spc="-400" dirty="0">
                <a:solidFill>
                  <a:srgbClr val="2A2A2A"/>
                </a:solidFill>
              </a:rPr>
              <a:t> </a:t>
            </a:r>
            <a:r>
              <a:rPr sz="7000" spc="215" dirty="0">
                <a:solidFill>
                  <a:srgbClr val="2A2A2A"/>
                </a:solidFill>
              </a:rPr>
              <a:t>you!</a:t>
            </a:r>
            <a:endParaRPr sz="7000"/>
          </a:p>
        </p:txBody>
      </p:sp>
      <p:grpSp>
        <p:nvGrpSpPr>
          <p:cNvPr id="4" name="object 4"/>
          <p:cNvGrpSpPr/>
          <p:nvPr/>
        </p:nvGrpSpPr>
        <p:grpSpPr>
          <a:xfrm>
            <a:off x="0" y="412066"/>
            <a:ext cx="18288000" cy="9875520"/>
            <a:chOff x="0" y="412066"/>
            <a:chExt cx="18288000" cy="98755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11931" y="6947323"/>
              <a:ext cx="6776067" cy="33396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41061" y="2810705"/>
              <a:ext cx="3146937" cy="56102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12066"/>
              <a:ext cx="4689052" cy="83430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197</Words>
  <Application>Microsoft Office PowerPoint</Application>
  <PresentationFormat>Custom</PresentationFormat>
  <Paragraphs>29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Tahoma</vt:lpstr>
      <vt:lpstr>Verdana</vt:lpstr>
      <vt:lpstr>Office Theme</vt:lpstr>
      <vt:lpstr>Customer data analysis</vt:lpstr>
      <vt:lpstr>cleaned data in power bi</vt:lpstr>
      <vt:lpstr>Shopping Distribution by Gender</vt:lpstr>
      <vt:lpstr>2. which gender did we sell more products to?</vt:lpstr>
      <vt:lpstr>Which gender generated more revenue?</vt:lpstr>
      <vt:lpstr>Distribution of purchase categories relative to other columns</vt:lpstr>
      <vt:lpstr>How is the shopping distribution according to age?</vt:lpstr>
      <vt:lpstr>Which age category bought more products?</vt:lpstr>
      <vt:lpstr>Which age category generated more revenue?</vt:lpstr>
      <vt:lpstr>Distribution of purchase categories relative to other columns</vt:lpstr>
      <vt:lpstr>Does the payment method have a relation with other columns?</vt:lpstr>
      <vt:lpstr>Distribution of the payment method</vt:lpstr>
      <vt:lpstr>Thank you!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Presentation in Pink Lilac Pastel Blobs Basic Style</dc:title>
  <dc:creator>Prapti Dhameliya</dc:creator>
  <cp:keywords>DAG6MrXAjh4,BAGHG6ti9uo,0</cp:keywords>
  <cp:lastModifiedBy>Microsoft account</cp:lastModifiedBy>
  <cp:revision>3</cp:revision>
  <dcterms:created xsi:type="dcterms:W3CDTF">2026-01-09T11:11:55Z</dcterms:created>
  <dcterms:modified xsi:type="dcterms:W3CDTF">2026-01-19T11:19:32Z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2025-12-01T00:00:00Z</vt:filetime>
  </property>
  <property fmtid="{D5CDD505-2E9C-101B-9397-08002B2CF9AE}" pid="3" name="Creator">
    <vt:lpwstr>Canva</vt:lpwstr>
  </property>
  <property fmtid="{D5CDD505-2E9C-101B-9397-08002B2CF9AE}" pid="4" name="LastSaved">
    <vt:filetime>2026-01-09T00:00:00Z</vt:filetime>
  </property>
  <property fmtid="{D5CDD505-2E9C-101B-9397-08002B2CF9AE}" pid="5" name="Producer">
    <vt:lpwstr>Canva</vt:lpwstr>
  </property>
</Properties>
</file>